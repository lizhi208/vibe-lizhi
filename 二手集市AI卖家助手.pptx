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72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28090"/>
                </a:solidFill>
                <a:latin typeface="Georgia"/>
              </a:defRPr>
            </a:pPr>
            <a:r>
              <a:rPr lang="zh-CN" altLang="en-US" sz="1200" b="0" i="0" u="none" strike="noStrike">
                <a:solidFill>
                  <a:srgbClr val="028090"/>
                </a:solidFill>
                <a:latin typeface="Georgia"/>
              </a:rPr>
              <a:t>月度预算对比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月度预算 (元)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28090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演示期 50 次</c:v>
                </c:pt>
                <c:pt idx="1">
                  <c:v>小规模 1000 次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0.16</c:v>
                </c:pt>
                <c:pt idx="1">
                  <c:v>3.12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C4-4BF8-8E3E-2B70766340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7A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7A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8837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74320"/>
            <a:ext cx="1645920" cy="164592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731520"/>
            <a:ext cx="914400" cy="914400"/>
          </a:xfrm>
          <a:prstGeom prst="ellipse">
            <a:avLst/>
          </a:prstGeom>
          <a:solidFill>
            <a:srgbClr val="02C39A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3657600"/>
            <a:ext cx="1371600" cy="13716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206240"/>
            <a:ext cx="731520" cy="731520"/>
          </a:xfrm>
          <a:prstGeom prst="ellipse">
            <a:avLst/>
          </a:prstGeom>
          <a:solidFill>
            <a:srgbClr val="02C39A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kern="0" spc="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二手集市 + AI 卖家助手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3474720" y="2697480"/>
            <a:ext cx="219456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200" kern="0" spc="100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拍照上传，AI 帮你写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E8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李智</a:t>
            </a:r>
            <a:endParaRPr lang="en-US" sz="1600" dirty="0"/>
          </a:p>
        </p:txBody>
      </p:sp>
      <p:sp>
        <p:nvSpPr>
          <p:cNvPr id="11" name="AILabel"/>
          <p:cNvSpPr txBox="1"/>
          <p:nvPr/>
        </p:nvSpPr>
        <p:spPr>
          <a:xfrm>
            <a:off x="6564000" y="45635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200" b="1" kern="0" spc="15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371600"/>
            <a:ext cx="3749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4C6"/>
            </a:solidFill>
            <a:prstDash val="solid"/>
          </a:ln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71600"/>
            <a:ext cx="73152" cy="1371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6459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识图生成草稿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拍照上传，自动生成标题与报价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3749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4C6"/>
            </a:solidFill>
            <a:prstDash val="solid"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371600"/>
            <a:ext cx="73152" cy="1371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0" y="16459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主系统管理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 专属的发布与编辑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017520"/>
            <a:ext cx="3749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4C6"/>
            </a:solidFill>
            <a:prstDash val="solid"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017520"/>
            <a:ext cx="73152" cy="1371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32918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91640" y="3246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外部设备展示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91640" y="3703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ngrok 隧道，公网可浏览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3017520"/>
            <a:ext cx="3749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4C6"/>
            </a:solidFill>
            <a:prstDash val="solid"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3017520"/>
            <a:ext cx="73152" cy="1371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4" name="Shape 22"/>
          <p:cNvSpPr/>
          <p:nvPr/>
        </p:nvSpPr>
        <p:spPr>
          <a:xfrm>
            <a:off x="4937760" y="32918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15000" y="3246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成本与安全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15000" y="3703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百炼定价与 Key 安全管理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kern="0" spc="15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识图生成草稿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09728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708660" y="1188720"/>
            <a:ext cx="1554480" cy="640080"/>
          </a:xfrm>
          <a:prstGeom prst="roundRect">
            <a:avLst>
              <a:gd name="adj" fmla="val 17143"/>
            </a:avLst>
          </a:prstGeom>
          <a:solidFill>
            <a:srgbClr val="028090"/>
          </a:solidFill>
          <a:ln/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8660" y="11887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上传照片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63140" y="1508760"/>
            <a:ext cx="502920" cy="0"/>
          </a:xfrm>
          <a:prstGeom prst="line">
            <a:avLst/>
          </a:prstGeom>
          <a:noFill/>
          <a:ln w="19050">
            <a:solidFill>
              <a:srgbClr val="B0C4C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66060" y="1188720"/>
            <a:ext cx="1554480" cy="640080"/>
          </a:xfrm>
          <a:prstGeom prst="roundRect">
            <a:avLst>
              <a:gd name="adj" fmla="val 17143"/>
            </a:avLst>
          </a:prstGeom>
          <a:solidFill>
            <a:srgbClr val="00A896"/>
          </a:solidFill>
          <a:ln/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66060" y="11887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生成草稿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0540" y="1508760"/>
            <a:ext cx="502920" cy="0"/>
          </a:xfrm>
          <a:prstGeom prst="line">
            <a:avLst/>
          </a:prstGeom>
          <a:noFill/>
          <a:ln w="19050">
            <a:solidFill>
              <a:srgbClr val="B0C4C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823460" y="1188720"/>
            <a:ext cx="1554480" cy="640080"/>
          </a:xfrm>
          <a:prstGeom prst="roundRect">
            <a:avLst>
              <a:gd name="adj" fmla="val 17143"/>
            </a:avLst>
          </a:prstGeom>
          <a:solidFill>
            <a:srgbClr val="015D6B"/>
          </a:solidFill>
          <a:ln/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23460" y="11887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卖家编辑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77940" y="1508760"/>
            <a:ext cx="502920" cy="0"/>
          </a:xfrm>
          <a:prstGeom prst="line">
            <a:avLst/>
          </a:prstGeom>
          <a:noFill/>
          <a:ln w="19050">
            <a:solidFill>
              <a:srgbClr val="B0C4C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80860" y="1188720"/>
            <a:ext cx="1554480" cy="640080"/>
          </a:xfrm>
          <a:prstGeom prst="roundRect">
            <a:avLst>
              <a:gd name="adj" fmla="val 17143"/>
            </a:avLst>
          </a:prstGeom>
          <a:solidFill>
            <a:srgbClr val="02C39A"/>
          </a:solidFill>
          <a:ln/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80860" y="11887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确认发布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8229600" cy="2468880"/>
          </a:xfrm>
          <a:prstGeom prst="rect">
            <a:avLst/>
          </a:prstGeom>
          <a:solidFill>
            <a:srgbClr val="E8F6F5"/>
          </a:solidFill>
          <a:ln w="6350">
            <a:solidFill>
              <a:srgbClr val="B0C4C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48840"/>
            <a:ext cx="73152" cy="24688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246888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350008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核心功能：上传物品照片 → AI 自动生成标题、描述文案、参考报价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" y="288036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761488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卖家二次编辑确认后发布（AI 内容仅作草稿，不直接上架）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" y="329184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172968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技术栈：阿里云百炼 qwen3-vl-plus（OpenAI 兼容协议）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7240" y="370332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3584448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安全：API Key 只在后端 .env，提示词入库管理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77240" y="411480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3995928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断网兜底：AI 不可用时页面优雅提示「AI 服务暂不可达」，不阻断手动发布</a:t>
            </a:r>
            <a:endParaRPr lang="en-US" sz="1250" dirty="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08B75637-ADFE-4CAD-930C-3FCEDE789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369" y="1761524"/>
            <a:ext cx="2241431" cy="28967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主系统管理（localhost 专属）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09728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3337560"/>
          </a:xfrm>
          <a:prstGeom prst="rect">
            <a:avLst/>
          </a:prstGeom>
          <a:solidFill>
            <a:srgbClr val="E8F6F5"/>
          </a:solidFill>
          <a:ln w="6350">
            <a:solidFill>
              <a:srgbClr val="B0C4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发布流程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上传物品照片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286000"/>
            <a:ext cx="0" cy="274320"/>
          </a:xfrm>
          <a:prstGeom prst="line">
            <a:avLst/>
          </a:prstGeom>
          <a:noFill/>
          <a:ln w="12700">
            <a:solidFill>
              <a:srgbClr val="B0C4C6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731520" y="25603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560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生成草稿（标题/描述/价格）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2926080"/>
            <a:ext cx="0" cy="274320"/>
          </a:xfrm>
          <a:prstGeom prst="line">
            <a:avLst/>
          </a:prstGeom>
          <a:noFill/>
          <a:ln w="12700">
            <a:solidFill>
              <a:srgbClr val="B0C4C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31520" y="320040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编辑商品：修改标题、描述、价格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3566160"/>
            <a:ext cx="0" cy="274320"/>
          </a:xfrm>
          <a:prstGeom prst="line">
            <a:avLst/>
          </a:prstGeom>
          <a:noFill/>
          <a:ln w="12700">
            <a:solidFill>
              <a:srgbClr val="B0C4C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31520" y="38404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3840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确认发布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1188720"/>
            <a:ext cx="3931920" cy="3337560"/>
          </a:xfrm>
          <a:prstGeom prst="rect">
            <a:avLst/>
          </a:prstGeom>
          <a:solidFill>
            <a:srgbClr val="015D6B"/>
          </a:solidFill>
          <a:ln/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83480" y="13716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三层防护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83480" y="1920240"/>
            <a:ext cx="347472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Shape 23"/>
          <p:cNvSpPr/>
          <p:nvPr/>
        </p:nvSpPr>
        <p:spPr>
          <a:xfrm>
            <a:off x="4983480" y="1920240"/>
            <a:ext cx="54864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1965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后端中间件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20640" y="22677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8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拦截非 localhost 的写操作，返回 403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83480" y="2788920"/>
            <a:ext cx="347472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Shape 27"/>
          <p:cNvSpPr/>
          <p:nvPr/>
        </p:nvSpPr>
        <p:spPr>
          <a:xfrm>
            <a:off x="4983480" y="2788920"/>
            <a:ext cx="54864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2834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前端隐藏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20640" y="31363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8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 localhost 隐藏发布 / 编辑按钮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83480" y="3657600"/>
            <a:ext cx="347472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3" name="Shape 31"/>
          <p:cNvSpPr/>
          <p:nvPr/>
        </p:nvSpPr>
        <p:spPr>
          <a:xfrm>
            <a:off x="4983480" y="3657600"/>
            <a:ext cx="54864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5120640" y="3703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路由隔离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20640" y="40050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8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外部设备只开放浏览与下单接口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外部设备展示（ngrok）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09728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143000"/>
            <a:ext cx="1828800" cy="594360"/>
          </a:xfrm>
          <a:prstGeom prst="roundRect">
            <a:avLst>
              <a:gd name="adj" fmla="val 18462"/>
            </a:avLst>
          </a:prstGeom>
          <a:solidFill>
            <a:srgbClr val="028090"/>
          </a:solidFill>
          <a:ln/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1430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本地服务 (localhost)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1440180"/>
            <a:ext cx="731520" cy="0"/>
          </a:xfrm>
          <a:prstGeom prst="line">
            <a:avLst/>
          </a:prstGeom>
          <a:noFill/>
          <a:ln w="25400">
            <a:solidFill>
              <a:srgbClr val="B0C4C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657600" y="1143000"/>
            <a:ext cx="1828800" cy="594360"/>
          </a:xfrm>
          <a:prstGeom prst="roundRect">
            <a:avLst>
              <a:gd name="adj" fmla="val 18462"/>
            </a:avLst>
          </a:prstGeom>
          <a:solidFill>
            <a:srgbClr val="00A896"/>
          </a:solidFill>
          <a:ln/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11430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ngrok 隧道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1440180"/>
            <a:ext cx="731520" cy="0"/>
          </a:xfrm>
          <a:prstGeom prst="line">
            <a:avLst/>
          </a:prstGeom>
          <a:noFill/>
          <a:ln w="25400">
            <a:solidFill>
              <a:srgbClr val="B0C4C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217920" y="1143000"/>
            <a:ext cx="1828800" cy="594360"/>
          </a:xfrm>
          <a:prstGeom prst="roundRect">
            <a:avLst>
              <a:gd name="adj" fmla="val 18462"/>
            </a:avLst>
          </a:prstGeom>
          <a:solidFill>
            <a:srgbClr val="02C39A"/>
          </a:solidFill>
          <a:ln/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1430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公网 URL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一条命令暴露本地服务到公网 · 前后端同域 · 相对路径 /api 直通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3931920" cy="2194560"/>
          </a:xfrm>
          <a:prstGeom prst="rect">
            <a:avLst/>
          </a:prstGeom>
          <a:solidFill>
            <a:srgbClr val="E8F6F5"/>
          </a:solidFill>
          <a:ln w="6350">
            <a:solidFill>
              <a:srgbClr val="B0C4C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77440"/>
            <a:ext cx="39319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14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外部设备可做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2971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1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浏览商品列表与详情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337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1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搜索与分类筛选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7033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1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下单锁定商品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069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1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查看「我的闲置」页面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377440"/>
            <a:ext cx="3931920" cy="2194560"/>
          </a:xfrm>
          <a:prstGeom prst="rect">
            <a:avLst/>
          </a:prstGeom>
          <a:solidFill>
            <a:srgbClr val="FBEAEA"/>
          </a:solidFill>
          <a:ln w="6350">
            <a:solidFill>
              <a:srgbClr val="B0C4C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377440"/>
            <a:ext cx="3931920" cy="54864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514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D953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 外部设备不可做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74920" y="2971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✗"/>
            </a:pPr>
            <a:r>
              <a:rPr lang="en-US" sz="1200" dirty="0">
                <a:solidFill>
                  <a:srgbClr val="1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发布商品（后端 403 拦截）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3337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✗"/>
            </a:pPr>
            <a:r>
              <a:rPr lang="en-US" sz="1200" dirty="0">
                <a:solidFill>
                  <a:srgbClr val="1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编辑商品信息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4920" y="37033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✗"/>
            </a:pPr>
            <a:r>
              <a:rPr lang="en-US" sz="1200" dirty="0">
                <a:solidFill>
                  <a:srgbClr val="1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删除商品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4069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✗"/>
            </a:pPr>
            <a:r>
              <a:rPr lang="en-US" sz="1200" dirty="0">
                <a:solidFill>
                  <a:srgbClr val="1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访问管理后台接口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/>
          <p:cNvGraphicFramePr/>
          <p:nvPr/>
        </p:nvGraphicFramePr>
        <p:xfrm>
          <a:off x="457200" y="2560320"/>
          <a:ext cx="484632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kern="0" spc="15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成本与安全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896112"/>
            <a:ext cx="109728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143000"/>
            <a:ext cx="4846320" cy="914400"/>
          </a:xfrm>
          <a:prstGeom prst="rect">
            <a:avLst/>
          </a:prstGeom>
          <a:solidFill>
            <a:srgbClr val="028090"/>
          </a:solidFill>
          <a:ln/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188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0.0031 元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274320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单次调用成本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743200" y="16276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E8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1450 输入 + 200 输出 tokens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21488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5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 1.6 元 / 百万 tokens · 输出 4 元 / 百万 tokens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0" y="1143000"/>
            <a:ext cx="3017520" cy="3383280"/>
          </a:xfrm>
          <a:prstGeom prst="rect">
            <a:avLst/>
          </a:prstGeom>
          <a:solidFill>
            <a:srgbClr val="015D6B"/>
          </a:solidFill>
          <a:ln/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897880" y="1325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安全底线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897880" y="1783080"/>
            <a:ext cx="9144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Shape 10"/>
          <p:cNvSpPr/>
          <p:nvPr/>
        </p:nvSpPr>
        <p:spPr>
          <a:xfrm>
            <a:off x="5943600" y="2057400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0" y="2057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309360" y="2011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隔离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309360" y="22677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E8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只在 .env 文件，已加入 .gitignore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943600" y="2679192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5"/>
          <p:cNvSpPr/>
          <p:nvPr/>
        </p:nvSpPr>
        <p:spPr>
          <a:xfrm>
            <a:off x="594360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309360" y="26334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不入 Git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309360" y="28895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E8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密钥不进版本库，杜绝泄露风险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943600" y="3300984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0" y="33009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309360" y="32552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提示词入库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309360" y="351129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E8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系统提示词存于后端常量文件，统一管理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943600" y="3922776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3"/>
          <p:cNvSpPr/>
          <p:nvPr/>
        </p:nvSpPr>
        <p:spPr>
          <a:xfrm>
            <a:off x="5943600" y="39227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309360" y="38770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后端代理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309360" y="4133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E8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前端不直接调 AI，所有请求经后端转发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731520"/>
            <a:ext cx="1097280" cy="109728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3200400"/>
            <a:ext cx="1371600" cy="13716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046720" y="3840480"/>
            <a:ext cx="731520" cy="731520"/>
          </a:xfrm>
          <a:prstGeom prst="ellipse">
            <a:avLst/>
          </a:prstGeom>
          <a:solidFill>
            <a:srgbClr val="02C39A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400" b="1" kern="0" spc="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感谢观看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3474720" y="2788920"/>
            <a:ext cx="219456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i="1" kern="0" spc="100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让 AI 帮你把闲置变成现金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李智  ·  课程项目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245</Words>
  <Application>Microsoft Office PowerPoint</Application>
  <PresentationFormat>全屏显示(16:9)</PresentationFormat>
  <Paragraphs>88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课程项目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二手集市 + AI 卖家助手</dc:title>
  <dc:subject>PptxGenJS Presentation</dc:subject>
  <dc:creator>李智</dc:creator>
  <cp:lastModifiedBy>智 李</cp:lastModifiedBy>
  <cp:revision>2</cp:revision>
  <dcterms:created xsi:type="dcterms:W3CDTF">2026-10-13T07:31:15Z</dcterms:created>
  <dcterms:modified xsi:type="dcterms:W3CDTF">2026-10-13T07:45:02Z</dcterms:modified>
</cp:coreProperties>
</file>